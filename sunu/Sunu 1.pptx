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175" dt="2026-10-15T12:07:16.64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75" autoAdjust="0"/>
    <p:restoredTop sz="94660"/>
  </p:normalViewPr>
  <p:slideViewPr>
    <p:cSldViewPr snapToGrid="0">
      <p:cViewPr varScale="1">
        <p:scale>
          <a:sx n="86" d="100"/>
          <a:sy n="86" d="100"/>
        </p:scale>
        <p:origin x="66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9438777"/>
      </p:ext>
    </p:extLst>
  </p:cSld>
  <p:clrMapOvr>
    <a:masterClrMapping/>
  </p:clrMapOvr>
  <p:transition spd="slow">
    <p:wip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837658"/>
      </p:ext>
    </p:extLst>
  </p:cSld>
  <p:clrMapOvr>
    <a:masterClrMapping/>
  </p:clrMapOvr>
  <p:transition spd="slow">
    <p:wip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shade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shade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shade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7167231"/>
      </p:ext>
    </p:extLst>
  </p:cSld>
  <p:clrMapOvr>
    <a:masterClrMapping/>
  </p:clrMapOvr>
  <p:transition spd="slow">
    <p:wip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075524"/>
      </p:ext>
    </p:extLst>
  </p:cSld>
  <p:clrMapOvr>
    <a:masterClrMapping/>
  </p:clrMapOvr>
  <p:transition spd="slow">
    <p:wip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10/15/2026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8392584"/>
      </p:ext>
    </p:extLst>
  </p:cSld>
  <p:clrMapOvr>
    <a:masterClrMapping/>
  </p:clrMapOvr>
  <p:transition spd="slow">
    <p:wip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10/15/2026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0593958"/>
      </p:ext>
    </p:extLst>
  </p:cSld>
  <p:clrMapOvr>
    <a:masterClrMapping/>
  </p:clrMapOvr>
  <p:transition spd="slow">
    <p:wip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10/15/2026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2008436"/>
      </p:ext>
    </p:extLst>
  </p:cSld>
  <p:clrMapOvr>
    <a:masterClrMapping/>
  </p:clrMapOvr>
  <p:transition spd="slow">
    <p:wip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971726"/>
      </p:ext>
    </p:extLst>
  </p:cSld>
  <p:clrMapOvr>
    <a:masterClrMapping/>
  </p:clrMapOvr>
  <p:transition spd="slow">
    <p:wip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1466248"/>
      </p:ext>
    </p:extLst>
  </p:cSld>
  <p:clrMapOvr>
    <a:masterClrMapping/>
  </p:clrMapOvr>
  <p:transition spd="slow">
    <p:wip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933195"/>
      </p:ext>
    </p:extLst>
  </p:cSld>
  <p:clrMapOvr>
    <a:masterClrMapping/>
  </p:clrMapOvr>
  <p:transition spd="slow">
    <p:wip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1338442"/>
      </p:ext>
    </p:extLst>
  </p:cSld>
  <p:clrMapOvr>
    <a:masterClrMapping/>
  </p:clrMapOvr>
  <p:transition spd="slow">
    <p:wip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10/15/2026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908304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 spd="slow">
    <p:wipe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ctrTitle"/>
          </p:nvPr>
        </p:nvSpPr>
        <p:spPr>
          <a:xfrm>
            <a:off x="1615440" y="1559243"/>
            <a:ext cx="9144000" cy="2387600"/>
          </a:xfrm>
        </p:spPr>
        <p:txBody>
          <a:bodyPr>
            <a:normAutofit/>
          </a:bodyPr>
          <a:lstStyle/>
          <a:p>
            <a:r>
              <a:rPr lang="tr-TR" sz="6600"/>
              <a:t>2026-2027 CSS</a:t>
            </a:r>
          </a:p>
        </p:txBody>
      </p:sp>
    </p:spTree>
    <p:extLst>
      <p:ext uri="{BB962C8B-B14F-4D97-AF65-F5344CB8AC3E}">
        <p14:creationId xmlns:p14="http://schemas.microsoft.com/office/powerpoint/2010/main" val="1674425800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6000">
        <p15:prstTrans prst="curtains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820658A-3519-F21E-377A-09C01D248A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US" sz="4800">
                <a:ea typeface="+mj-lt"/>
                <a:cs typeface="+mj-lt"/>
              </a:rPr>
              <a:t>CSS Layout nedir?</a:t>
            </a:r>
            <a:endParaRPr lang="en-US" sz="48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9CCAA4-110D-EA0E-FB92-2CC4F9F262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2244480"/>
            <a:ext cx="9941319" cy="3378657"/>
          </a:xfrm>
        </p:spPr>
        <p:txBody>
          <a:bodyPr vert="horz" lIns="91440" tIns="45720" rIns="91440" bIns="4572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Web </a:t>
            </a:r>
            <a:r>
              <a:rPr lang="en-US" dirty="0" err="1">
                <a:ea typeface="+mn-lt"/>
                <a:cs typeface="+mn-lt"/>
              </a:rPr>
              <a:t>sayfasındaki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elemanların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nerede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ve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nasıl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konumlandırılacağını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belirler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 dirty="0"/>
          </a:p>
          <a:p>
            <a:pPr marL="0" indent="0">
              <a:buNone/>
            </a:pPr>
            <a:endParaRPr lang="en-US" dirty="0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dirty="0" err="1">
                <a:ea typeface="+mn-lt"/>
                <a:cs typeface="+mn-lt"/>
              </a:rPr>
              <a:t>Başlığın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üstte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bulunması</a:t>
            </a:r>
            <a:endParaRPr lang="en-US"/>
          </a:p>
          <a:p>
            <a:pPr marL="0" indent="0">
              <a:buNone/>
            </a:pPr>
            <a:r>
              <a:rPr lang="en-US" dirty="0" err="1">
                <a:ea typeface="+mn-lt"/>
                <a:cs typeface="+mn-lt"/>
              </a:rPr>
              <a:t>Menülerin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yan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yana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sıralanması</a:t>
            </a:r>
            <a:endParaRPr lang="en-US"/>
          </a:p>
          <a:p>
            <a:pPr marL="0" indent="0">
              <a:buNone/>
            </a:pPr>
            <a:r>
              <a:rPr lang="en-US" dirty="0" err="1">
                <a:ea typeface="+mn-lt"/>
                <a:cs typeface="+mn-lt"/>
              </a:rPr>
              <a:t>İçerik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ve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kenar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çubuğunun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ayrılması</a:t>
            </a:r>
            <a:endParaRPr lang="en-US"/>
          </a:p>
          <a:p>
            <a:pPr marL="0" indent="0">
              <a:buNone/>
            </a:pPr>
            <a:r>
              <a:rPr lang="en-US" dirty="0" err="1">
                <a:ea typeface="+mn-lt"/>
                <a:cs typeface="+mn-lt"/>
              </a:rPr>
              <a:t>Kartların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bir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ızgara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düzeninde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yerleştirilmes</a:t>
            </a:r>
            <a:r>
              <a:rPr lang="en-US" sz="2400" dirty="0" err="1">
                <a:ea typeface="+mn-lt"/>
                <a:cs typeface="+mn-lt"/>
              </a:rPr>
              <a:t>i</a:t>
            </a:r>
            <a:endParaRPr lang="en-US" sz="2400" dirty="0" err="1"/>
          </a:p>
          <a:p>
            <a:endParaRPr lang="en-US" sz="240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0722027"/>
      </p:ext>
    </p:extLst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28D31E1B-0407-4223-9642-0B642CBF57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062849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656150"/>
            <a:ext cx="5672667" cy="14315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588533D-D569-BAB7-09A4-E259DBEE06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0501" y="851853"/>
            <a:ext cx="6013151" cy="1234564"/>
          </a:xfrm>
        </p:spPr>
        <p:txBody>
          <a:bodyPr anchor="ctr">
            <a:normAutofit/>
          </a:bodyPr>
          <a:lstStyle/>
          <a:p>
            <a:r>
              <a:rPr lang="en-US" sz="2400" dirty="0">
                <a:latin typeface="Aptos"/>
              </a:rPr>
              <a:t>Bir HTML </a:t>
            </a:r>
            <a:r>
              <a:rPr lang="en-US" sz="2400" dirty="0" err="1">
                <a:latin typeface="Aptos"/>
              </a:rPr>
              <a:t>elemanının</a:t>
            </a:r>
            <a:r>
              <a:rPr lang="en-US" sz="2400" dirty="0">
                <a:latin typeface="Aptos"/>
              </a:rPr>
              <a:t> kutu </a:t>
            </a:r>
            <a:r>
              <a:rPr lang="en-US" sz="2400" dirty="0" err="1">
                <a:latin typeface="Aptos"/>
              </a:rPr>
              <a:t>modeli</a:t>
            </a:r>
            <a:r>
              <a:rPr lang="en-US" sz="2400" dirty="0">
                <a:latin typeface="Aptos"/>
              </a:rPr>
              <a:t> </a:t>
            </a:r>
            <a:r>
              <a:rPr lang="en-US" sz="2400" dirty="0" err="1">
                <a:latin typeface="Aptos"/>
              </a:rPr>
              <a:t>dört</a:t>
            </a:r>
            <a:r>
              <a:rPr lang="en-US" sz="2400" dirty="0">
                <a:latin typeface="Aptos"/>
              </a:rPr>
              <a:t> </a:t>
            </a:r>
            <a:r>
              <a:rPr lang="en-US" sz="2400" dirty="0" err="1">
                <a:latin typeface="Aptos"/>
              </a:rPr>
              <a:t>bölümden</a:t>
            </a:r>
            <a:r>
              <a:rPr lang="en-US" sz="2400" dirty="0">
                <a:latin typeface="Aptos"/>
              </a:rPr>
              <a:t> </a:t>
            </a:r>
            <a:r>
              <a:rPr lang="en-US" sz="2400" dirty="0" err="1">
                <a:latin typeface="Aptos"/>
              </a:rPr>
              <a:t>oluşur</a:t>
            </a:r>
            <a:endParaRPr lang="en-US" sz="2400" dirty="0" err="1">
              <a:solidFill>
                <a:srgbClr val="000000"/>
              </a:solidFill>
              <a:latin typeface="Aptos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0E96339-907C-46C3-99AC-31179B6F0E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16299" y="608401"/>
            <a:ext cx="4637502" cy="5593443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Content Placeholder 3" descr="Spacing Systems: Margin, Padding, and Alignment Tutorial | Sophia Learning">
            <a:extLst>
              <a:ext uri="{FF2B5EF4-FFF2-40B4-BE49-F238E27FC236}">
                <a16:creationId xmlns:a16="http://schemas.microsoft.com/office/drawing/2014/main" id="{522F0598-7ACD-F7FF-CF42-657AA6F30E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4580" y="2455993"/>
            <a:ext cx="4223252" cy="3441950"/>
          </a:xfrm>
          <a:prstGeom prst="rect">
            <a:avLst/>
          </a:prstGeom>
        </p:spPr>
      </p:pic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92240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7EA35C6D-E724-3B39-24CB-EDC72EB1D38B}"/>
              </a:ext>
            </a:extLst>
          </p:cNvPr>
          <p:cNvSpPr txBox="1"/>
          <p:nvPr/>
        </p:nvSpPr>
        <p:spPr>
          <a:xfrm>
            <a:off x="6184348" y="2484782"/>
            <a:ext cx="4355547" cy="34163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2400" dirty="0">
                <a:ea typeface="+mn-lt"/>
                <a:cs typeface="+mn-lt"/>
              </a:rPr>
              <a:t>Content: </a:t>
            </a:r>
            <a:r>
              <a:rPr lang="en-US" sz="2400" dirty="0" err="1">
                <a:ea typeface="+mn-lt"/>
                <a:cs typeface="+mn-lt"/>
              </a:rPr>
              <a:t>İçerik</a:t>
            </a:r>
            <a:endParaRPr lang="en-US" sz="2400"/>
          </a:p>
          <a:p>
            <a:pPr marL="285750" indent="-285750">
              <a:buFont typeface="Arial"/>
              <a:buChar char="•"/>
            </a:pPr>
            <a:endParaRPr lang="en-US" sz="2400" dirty="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sz="2400" dirty="0">
                <a:ea typeface="+mn-lt"/>
                <a:cs typeface="+mn-lt"/>
              </a:rPr>
              <a:t>Padding: </a:t>
            </a:r>
            <a:r>
              <a:rPr lang="en-US" sz="2400" dirty="0" err="1">
                <a:ea typeface="+mn-lt"/>
                <a:cs typeface="+mn-lt"/>
              </a:rPr>
              <a:t>İçerik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ile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kenarlık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arasındaki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iç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boşluk</a:t>
            </a:r>
            <a:endParaRPr lang="en-US" sz="2400"/>
          </a:p>
          <a:p>
            <a:pPr marL="285750" indent="-285750">
              <a:buFont typeface="Arial"/>
              <a:buChar char="•"/>
            </a:pPr>
            <a:endParaRPr lang="en-US" sz="2400" dirty="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sz="2400" dirty="0">
                <a:ea typeface="+mn-lt"/>
                <a:cs typeface="+mn-lt"/>
              </a:rPr>
              <a:t>Border: </a:t>
            </a:r>
            <a:r>
              <a:rPr lang="en-US" sz="2400" dirty="0" err="1">
                <a:ea typeface="+mn-lt"/>
                <a:cs typeface="+mn-lt"/>
              </a:rPr>
              <a:t>Kenarlık</a:t>
            </a:r>
            <a:endParaRPr lang="en-US" sz="2400"/>
          </a:p>
          <a:p>
            <a:pPr marL="285750" indent="-285750">
              <a:buFont typeface="Arial"/>
              <a:buChar char="•"/>
            </a:pPr>
            <a:endParaRPr lang="en-US" sz="2400" dirty="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sz="2400" dirty="0">
                <a:ea typeface="+mn-lt"/>
                <a:cs typeface="+mn-lt"/>
              </a:rPr>
              <a:t>Margin: </a:t>
            </a:r>
            <a:r>
              <a:rPr lang="en-US" sz="2400" dirty="0" err="1">
                <a:ea typeface="+mn-lt"/>
                <a:cs typeface="+mn-lt"/>
              </a:rPr>
              <a:t>Elemanın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dışındaki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boşluk</a:t>
            </a:r>
            <a:endParaRPr lang="en-US" sz="2400" dirty="0" err="1"/>
          </a:p>
        </p:txBody>
      </p:sp>
    </p:spTree>
    <p:extLst>
      <p:ext uri="{BB962C8B-B14F-4D97-AF65-F5344CB8AC3E}">
        <p14:creationId xmlns:p14="http://schemas.microsoft.com/office/powerpoint/2010/main" val="3446765547"/>
      </p:ext>
    </p:extLst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3B60EAB-C985-302C-83A8-D7898046CE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US" sz="4800">
                <a:ea typeface="+mj-lt"/>
                <a:cs typeface="+mj-lt"/>
              </a:rPr>
              <a:t>Responsive Design</a:t>
            </a:r>
            <a:endParaRPr lang="en-US" sz="48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43018E-55AC-4768-4B50-83B0EAEFCF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2365957"/>
            <a:ext cx="9941319" cy="3124658"/>
          </a:xfrm>
        </p:spPr>
        <p:txBody>
          <a:bodyPr vert="horz" lIns="91440" tIns="45720" rIns="91440" bIns="4572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web </a:t>
            </a:r>
            <a:r>
              <a:rPr lang="en-US" dirty="0" err="1">
                <a:ea typeface="+mn-lt"/>
                <a:cs typeface="+mn-lt"/>
              </a:rPr>
              <a:t>sayfasının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farklı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ekran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boyutlarına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uyum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sağlamasıdır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 dirty="0"/>
          </a:p>
          <a:p>
            <a:pPr marL="0" indent="0">
              <a:buNone/>
            </a:pPr>
            <a:r>
              <a:rPr lang="en-US" sz="1900">
                <a:ea typeface="+mn-lt"/>
                <a:cs typeface="+mn-lt"/>
              </a:rPr>
              <a:t>Örnek;</a:t>
            </a:r>
          </a:p>
          <a:p>
            <a:pPr marL="0" indent="0">
              <a:buNone/>
            </a:pPr>
            <a:r>
              <a:rPr lang="en-US" sz="1900">
                <a:ea typeface="+mn-lt"/>
                <a:cs typeface="+mn-lt"/>
              </a:rPr>
              <a:t>@media (max-width: 600px) {</a:t>
            </a:r>
            <a:endParaRPr lang="en-US" sz="1900"/>
          </a:p>
          <a:p>
            <a:pPr marL="0" indent="0">
              <a:buNone/>
            </a:pPr>
            <a:r>
              <a:rPr lang="en-US" sz="1900">
                <a:ea typeface="+mn-lt"/>
                <a:cs typeface="+mn-lt"/>
              </a:rPr>
              <a:t>  .container {</a:t>
            </a:r>
            <a:endParaRPr lang="en-US" sz="1900"/>
          </a:p>
          <a:p>
            <a:pPr marL="0" indent="0">
              <a:buNone/>
            </a:pPr>
            <a:r>
              <a:rPr lang="en-US" sz="1900">
                <a:ea typeface="+mn-lt"/>
                <a:cs typeface="+mn-lt"/>
              </a:rPr>
              <a:t>    grid-template-columns: 1fr;</a:t>
            </a:r>
            <a:endParaRPr lang="en-US" sz="1900"/>
          </a:p>
          <a:p>
            <a:pPr marL="0" indent="0">
              <a:buNone/>
            </a:pPr>
            <a:r>
              <a:rPr lang="en-US" sz="1900">
                <a:ea typeface="+mn-lt"/>
                <a:cs typeface="+mn-lt"/>
              </a:rPr>
              <a:t>  }</a:t>
            </a:r>
            <a:endParaRPr lang="en-US" sz="1900"/>
          </a:p>
          <a:p>
            <a:pPr marL="0" indent="0">
              <a:buNone/>
            </a:pPr>
            <a:r>
              <a:rPr lang="en-US" sz="1900">
                <a:ea typeface="+mn-lt"/>
                <a:cs typeface="+mn-lt"/>
              </a:rPr>
              <a:t>}</a:t>
            </a:r>
          </a:p>
          <a:p>
            <a:pPr marL="0" indent="0">
              <a:buNone/>
            </a:pPr>
            <a:r>
              <a:rPr lang="en-US" dirty="0" err="1"/>
              <a:t>Örnekte</a:t>
            </a:r>
            <a:r>
              <a:rPr lang="en-US" dirty="0"/>
              <a:t> de </a:t>
            </a:r>
            <a:r>
              <a:rPr lang="en-US" dirty="0" err="1"/>
              <a:t>göründüğü</a:t>
            </a:r>
            <a:r>
              <a:rPr lang="en-US" dirty="0"/>
              <a:t> </a:t>
            </a:r>
            <a:r>
              <a:rPr lang="en-US" dirty="0" err="1"/>
              <a:t>gibi</a:t>
            </a:r>
            <a:r>
              <a:rPr lang="en-US" dirty="0"/>
              <a:t> </a:t>
            </a:r>
            <a:r>
              <a:rPr lang="en-US" dirty="0" err="1"/>
              <a:t>geniş</a:t>
            </a:r>
            <a:r>
              <a:rPr lang="en-US" dirty="0"/>
              <a:t> </a:t>
            </a:r>
            <a:r>
              <a:rPr lang="en-US" dirty="0" err="1"/>
              <a:t>ekranda</a:t>
            </a:r>
            <a:r>
              <a:rPr lang="en-US" dirty="0"/>
              <a:t> 3, </a:t>
            </a:r>
            <a:r>
              <a:rPr lang="en-US" dirty="0" err="1"/>
              <a:t>dar</a:t>
            </a:r>
            <a:r>
              <a:rPr lang="en-US" dirty="0"/>
              <a:t> </a:t>
            </a:r>
            <a:r>
              <a:rPr lang="en-US" dirty="0" err="1"/>
              <a:t>ekranda</a:t>
            </a:r>
            <a:r>
              <a:rPr lang="en-US" dirty="0"/>
              <a:t> </a:t>
            </a:r>
            <a:r>
              <a:rPr lang="en-US" dirty="0" err="1"/>
              <a:t>tek</a:t>
            </a:r>
            <a:r>
              <a:rPr lang="en-US" dirty="0"/>
              <a:t> </a:t>
            </a:r>
            <a:r>
              <a:rPr lang="en-US" dirty="0" err="1"/>
              <a:t>sütun</a:t>
            </a:r>
            <a:r>
              <a:rPr lang="en-US" dirty="0"/>
              <a:t> </a:t>
            </a:r>
            <a:r>
              <a:rPr lang="en-US" dirty="0" err="1"/>
              <a:t>kullanılır</a:t>
            </a:r>
            <a:r>
              <a:rPr lang="en-US" dirty="0"/>
              <a:t>.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8006413"/>
      </p:ext>
    </p:extLst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538D9D"/>
      </a:hlink>
      <a:folHlink>
        <a:srgbClr val="A5738E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3A418E6B-C5F0-4B95-8D77-61E3EF3B5DF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Office Theme</vt:lpstr>
      <vt:lpstr>2026-2027 CSS</vt:lpstr>
      <vt:lpstr>CSS Layout nedir?</vt:lpstr>
      <vt:lpstr>Bir HTML elemanının kutu modeli dört bölümden oluşur</vt:lpstr>
      <vt:lpstr>Responsive Design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75</cp:revision>
  <dcterms:created xsi:type="dcterms:W3CDTF">2012-08-15T22:53:30Z</dcterms:created>
  <dcterms:modified xsi:type="dcterms:W3CDTF">2026-10-15T12:11:11Z</dcterms:modified>
</cp:coreProperties>
</file>